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Monthly Sales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210</c:v>
                </c:pt>
                <c:pt idx="2">
                  <c:v>195</c:v>
                </c:pt>
                <c:pt idx="3">
                  <c:v>250</c:v>
                </c:pt>
                <c:pt idx="4">
                  <c:v>270</c:v>
                </c:pt>
                <c:pt idx="5">
                  <c:v>320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Sales by Category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Furniture</c:v>
                </c:pt>
                <c:pt idx="2">
                  <c:v>Office</c:v>
                </c:pt>
                <c:pt idx="3">
                  <c:v>Fashion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</c:v>
                </c:pt>
                <c:pt idx="1">
                  <c:v>360</c:v>
                </c:pt>
                <c:pt idx="2">
                  <c:v>280</c:v>
                </c:pt>
                <c:pt idx="3">
                  <c:v>190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Task 4: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606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DCE6FF"/>
                </a:solidFill>
              </a:defRPr>
            </a:pPr>
            <a:r>
              <a:t>Sales &amp; Financial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Tool: Power BI / Tableau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Deliverables: Interactive Dashboard + PPT Summary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Audience: Business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263B"/>
                </a:solidFill>
              </a:defRPr>
            </a:pPr>
            <a:r>
              <a:t>1. Objective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23C"/>
                </a:solidFill>
              </a:defRPr>
            </a:pPr>
            <a:r>
              <a:t>A dashboard that turns sales data into clear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Objective: monitor sales, profit, growth and customer performance.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Dataset: Sales / Financial dataset (Kaggle or provided business data).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Audience: managers, analysts and business stakeholders.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Tool: Power BI or Tableau.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Outcome: identify trends, profitable categories, weak areas and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46634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34416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446B4"/>
                </a:solidFill>
              </a:defRPr>
            </a:pPr>
            <a:r>
              <a:t>Primary 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63B"/>
                </a:solidFill>
              </a:defRPr>
            </a:pPr>
            <a:r>
              <a:t>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46634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957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446B4"/>
                </a:solidFill>
              </a:defRPr>
            </a:pPr>
            <a:r>
              <a:t>Secondary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63B"/>
                </a:solidFill>
              </a:defRPr>
            </a:pPr>
            <a:r>
              <a:t>Profit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46634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44728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446B4"/>
                </a:solidFill>
              </a:defRPr>
            </a:pPr>
            <a:r>
              <a:t>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4290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63B"/>
                </a:solidFill>
              </a:defRPr>
            </a:pPr>
            <a:r>
              <a:t>Monthly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46634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4988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446B4"/>
                </a:solidFill>
              </a:defRPr>
            </a:pPr>
            <a:r>
              <a:t>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8055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63B"/>
                </a:solidFill>
              </a:defRPr>
            </a:pPr>
            <a:r>
              <a:t>Slicers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263B"/>
                </a:solidFill>
              </a:defRPr>
            </a:pPr>
            <a:r>
              <a:t>2. 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23C"/>
                </a:solidFill>
              </a:defRPr>
            </a:pPr>
            <a:r>
              <a:t>Illustrative layout — replace sample KPI values with actual Power BI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38560" cy="5212080"/>
          </a:xfrm>
          <a:prstGeom prst="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Date: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4300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234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Region: 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4300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234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Category: 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14300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7" y="1234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Product: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24231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169E1"/>
                </a:solidFill>
              </a:defRPr>
            </a:pPr>
            <a:r>
              <a:t>Total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4028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63B"/>
                </a:solidFill>
              </a:defRPr>
            </a:pPr>
            <a:r>
              <a:t>₹1.42M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874519"/>
            <a:ext cx="24231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98424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7D50"/>
                </a:solidFill>
              </a:defRPr>
            </a:pPr>
            <a:r>
              <a:t>Total Profit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24028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63B"/>
                </a:solidFill>
              </a:defRPr>
            </a:pPr>
            <a:r>
              <a:t>₹284K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74519"/>
            <a:ext cx="24231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98424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446B4"/>
                </a:solidFill>
              </a:defRPr>
            </a:pPr>
            <a:r>
              <a:t>Profit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4028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63B"/>
                </a:solidFill>
              </a:defRPr>
            </a:pPr>
            <a:r>
              <a:t>20.0%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874519"/>
            <a:ext cx="24231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98424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24028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63B"/>
                </a:solidFill>
              </a:defRPr>
            </a:pPr>
            <a:r>
              <a:t>+12.5%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297180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172200" y="2971800"/>
          <a:ext cx="50749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263B"/>
                </a:solidFill>
              </a:defRPr>
            </a:pPr>
            <a:r>
              <a:t>3. KPI Definitions &amp; Business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25272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446B4"/>
                </a:solidFill>
              </a:defRPr>
            </a:pPr>
            <a:r>
              <a:t>Total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5819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263B"/>
                </a:solidFill>
              </a:defRPr>
            </a:pPr>
            <a:r>
              <a:t>SUM(Sales)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2D323C"/>
                </a:solidFill>
              </a:defRPr>
            </a:pPr>
            <a:r>
              <a:t>Overall revenue generated.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5272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446B4"/>
                </a:solidFill>
              </a:defRPr>
            </a:pPr>
            <a:r>
              <a:t>Total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819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263B"/>
                </a:solidFill>
              </a:defRPr>
            </a:pPr>
            <a:r>
              <a:t>SUM(Profit)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4708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2D323C"/>
                </a:solidFill>
              </a:defRPr>
            </a:pPr>
            <a:r>
              <a:t>Earnings after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76148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446B4"/>
                </a:solidFill>
              </a:defRPr>
            </a:pPr>
            <a:r>
              <a:t>Profit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9067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263B"/>
                </a:solidFill>
              </a:defRPr>
            </a:pPr>
            <a:r>
              <a:t>Profit ÷ Sales 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3558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2D323C"/>
                </a:solidFill>
              </a:defRPr>
            </a:pPr>
            <a:r>
              <a:t>Profitability percentage.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6148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446B4"/>
                </a:solidFill>
              </a:defRPr>
            </a:pPr>
            <a:r>
              <a:t>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9067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263B"/>
                </a:solidFill>
              </a:defRPr>
            </a:pPr>
            <a:r>
              <a:t>Current vs previous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558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2D323C"/>
                </a:solidFill>
              </a:defRPr>
            </a:pPr>
            <a:r>
              <a:t>Business improvement or decline.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052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2702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446B4"/>
                </a:solidFill>
              </a:defRPr>
            </a:pPr>
            <a:r>
              <a:t>Total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59943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263B"/>
                </a:solidFill>
              </a:defRPr>
            </a:pPr>
            <a:r>
              <a:t>COUNT(Order 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86460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2D323C"/>
                </a:solidFill>
              </a:defRPr>
            </a:pPr>
            <a:r>
              <a:t>Order volume.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6052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02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446B4"/>
                </a:solidFill>
              </a:defRPr>
            </a:pPr>
            <a:r>
              <a:t>Average Order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9943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263B"/>
                </a:solidFill>
              </a:defRPr>
            </a:pPr>
            <a:r>
              <a:t>Sales ÷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6460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2D323C"/>
                </a:solidFill>
              </a:defRPr>
            </a:pPr>
            <a:r>
              <a:t>Average value per order.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263B"/>
                </a:solidFill>
              </a:defRPr>
            </a:pPr>
            <a:r>
              <a:t>4. Interactivity &amp; Visual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23C"/>
                </a:solidFill>
              </a:defRPr>
            </a:pPr>
            <a:r>
              <a:t>• Slicers: Date, Region, Category and Product.</a:t>
            </a:r>
          </a:p>
          <a:p>
            <a:pPr>
              <a:spcAft>
                <a:spcPts val="800"/>
              </a:spcAft>
              <a:defRPr sz="1700">
                <a:solidFill>
                  <a:srgbClr val="2D323C"/>
                </a:solidFill>
              </a:defRPr>
            </a:pPr>
            <a:r>
              <a:t>• Cross-filtering updates related charts and KPI cards.</a:t>
            </a:r>
          </a:p>
          <a:p>
            <a:pPr>
              <a:spcAft>
                <a:spcPts val="800"/>
              </a:spcAft>
              <a:defRPr sz="1700">
                <a:solidFill>
                  <a:srgbClr val="2D323C"/>
                </a:solidFill>
              </a:defRPr>
            </a:pPr>
            <a:r>
              <a:t>• Tooltips show detailed sales, profit and order information.</a:t>
            </a:r>
          </a:p>
          <a:p>
            <a:pPr>
              <a:spcAft>
                <a:spcPts val="800"/>
              </a:spcAft>
              <a:defRPr sz="1700">
                <a:solidFill>
                  <a:srgbClr val="2D323C"/>
                </a:solidFill>
              </a:defRPr>
            </a:pPr>
            <a:r>
              <a:t>• Navigation buttons: Overview, Products and Regions.</a:t>
            </a:r>
          </a:p>
          <a:p>
            <a:pPr>
              <a:spcAft>
                <a:spcPts val="800"/>
              </a:spcAft>
              <a:defRPr sz="1700">
                <a:solidFill>
                  <a:srgbClr val="2D323C"/>
                </a:solidFill>
              </a:defRPr>
            </a:pPr>
            <a:r>
              <a:t>• Use a consistent colour theme and neutral background.</a:t>
            </a:r>
          </a:p>
          <a:p>
            <a:pPr>
              <a:spcAft>
                <a:spcPts val="800"/>
              </a:spcAft>
              <a:defRPr sz="1700">
                <a:solidFill>
                  <a:srgbClr val="2D323C"/>
                </a:solidFill>
              </a:defRPr>
            </a:pPr>
            <a:r>
              <a:t>• Keep important KPIs at the top and detailed charts below.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371600"/>
            <a:ext cx="1417320" cy="502920"/>
          </a:xfrm>
          <a:prstGeom prst="roundRect">
            <a:avLst/>
          </a:prstGeom>
          <a:solidFill>
            <a:srgbClr val="5446B4"/>
          </a:solidFill>
          <a:ln>
            <a:solidFill>
              <a:srgbClr val="544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59" y="1481328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544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481328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446B4"/>
                </a:solidFill>
              </a:defRPr>
            </a:pPr>
            <a:r>
              <a:t>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3716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544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1481328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446B4"/>
                </a:solidFill>
              </a:defRPr>
            </a:pPr>
            <a:r>
              <a:t>Regions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1460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</a:defRPr>
            </a:pPr>
            <a:r>
              <a:t>• Line chart → time-series sales</a:t>
            </a: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</a:defRPr>
            </a:pPr>
            <a:r>
              <a:t>• Bar chart → category/region comparison</a:t>
            </a: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</a:defRPr>
            </a:pPr>
            <a:r>
              <a:t>• Cards → KPIs and totals</a:t>
            </a: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</a:defRPr>
            </a:pPr>
            <a:r>
              <a:t>• Table → top products/customers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263B"/>
                </a:solidFill>
              </a:defRPr>
            </a:pPr>
            <a:r>
              <a:t>5.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23C"/>
                </a:solidFill>
              </a:defRPr>
            </a:pPr>
            <a:r>
              <a:t>Example wording — replace with actual findings from the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Monthly analysis helps identify growth and seasonal patterns.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Category analysis identifies the largest revenue contributors.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Sales and profit should be compared because high sales do not always mean high profit.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Regional filters help identify strong and weak markets.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Top-product analysis supports inventory and marketing decisions.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Interactive filters allow stakeholders to answer specific business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263B"/>
                </a:solidFill>
              </a:defRPr>
            </a:pPr>
            <a:r>
              <a:t>6. Conclusion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The dashboard provides a single view of sales and financial performance.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KPI cards give quick information to business stakeholders.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Charts reveal trends, category performance and regional differences.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Slicers make the dashboard interactive and easy to explore.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Focus on high-profit categories, monitor low-performing regions and review monthly growth.</a:t>
            </a:r>
          </a:p>
          <a:p>
            <a:pPr>
              <a:spcAft>
                <a:spcPts val="800"/>
              </a:spcAft>
              <a:defRPr sz="1800">
                <a:solidFill>
                  <a:srgbClr val="2D323C"/>
                </a:solidFill>
              </a:defRPr>
            </a:pPr>
            <a:r>
              <a:t>• Final Power BI submission should replace illustrative values with actual dataset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